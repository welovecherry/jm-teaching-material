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28090">
              <a:alpha val="30000"/>
            </a:srgbClr>
          </a:solidFill>
          <a:ln/>
        </p:spPr>
      </p:sp>
      <p:sp>
        <p:nvSpPr>
          <p:cNvPr id="3" name="Shape 1"/>
          <p:cNvSpPr/>
          <p:nvPr/>
        </p:nvSpPr>
        <p:spPr>
          <a:xfrm>
            <a:off x="-1828800" y="4572000"/>
            <a:ext cx="3657600" cy="3657600"/>
          </a:xfrm>
          <a:prstGeom prst="ellipse">
            <a:avLst/>
          </a:prstGeom>
          <a:solidFill>
            <a:srgbClr val="00A896">
              <a:alpha val="25000"/>
            </a:srgbClr>
          </a:solidFill>
          <a:ln/>
        </p:spPr>
      </p:sp>
      <p:sp>
        <p:nvSpPr>
          <p:cNvPr id="4" name="Text 2"/>
          <p:cNvSpPr/>
          <p:nvPr/>
        </p:nvSpPr>
        <p:spPr>
          <a:xfrm>
            <a:off x="731520" y="1280160"/>
            <a:ext cx="9144000" cy="457200"/>
          </a:xfrm>
          <a:prstGeom prst="rect">
            <a:avLst/>
          </a:prstGeom>
          <a:noFill/>
          <a:ln/>
        </p:spPr>
        <p:txBody>
          <a:bodyPr wrap="square" rtlCol="0" anchor="ctr"/>
          <a:lstStyle/>
          <a:p>
            <a:pPr indent="0" marL="0">
              <a:buNone/>
            </a:pPr>
            <a:r>
              <a:rPr lang="en-US" sz="1600" b="1" spc="200" kern="0" dirty="0">
                <a:solidFill>
                  <a:srgbClr val="02C39A"/>
                </a:solidFill>
                <a:latin typeface="Malgun Gothic" pitchFamily="34" charset="0"/>
                <a:ea typeface="Malgun Gothic" pitchFamily="34" charset="-122"/>
                <a:cs typeface="Malgun Gothic" pitchFamily="34" charset="-120"/>
              </a:rPr>
              <a:t>P1 SENSEMAKING</a:t>
            </a:r>
            <a:endParaRPr lang="en-US" sz="1600" dirty="0"/>
          </a:p>
        </p:txBody>
      </p:sp>
      <p:sp>
        <p:nvSpPr>
          <p:cNvPr id="5" name="Text 3"/>
          <p:cNvSpPr/>
          <p:nvPr/>
        </p:nvSpPr>
        <p:spPr>
          <a:xfrm>
            <a:off x="731520" y="1737360"/>
            <a:ext cx="10515600" cy="1280160"/>
          </a:xfrm>
          <a:prstGeom prst="rect">
            <a:avLst/>
          </a:prstGeom>
          <a:noFill/>
          <a:ln/>
        </p:spPr>
        <p:txBody>
          <a:bodyPr wrap="square"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네트워크·ZT(Zero Trust) 운영 기초</a:t>
            </a:r>
            <a:endParaRPr lang="en-US" sz="4000" dirty="0"/>
          </a:p>
        </p:txBody>
      </p:sp>
      <p:sp>
        <p:nvSpPr>
          <p:cNvPr id="6" name="Text 4"/>
          <p:cNvSpPr/>
          <p:nvPr/>
        </p:nvSpPr>
        <p:spPr>
          <a:xfrm>
            <a:off x="731520" y="3017520"/>
            <a:ext cx="10058400" cy="548640"/>
          </a:xfrm>
          <a:prstGeom prst="rect">
            <a:avLst/>
          </a:prstGeom>
          <a:noFill/>
          <a:ln/>
        </p:spPr>
        <p:txBody>
          <a:bodyPr wrap="square" rtlCol="0" anchor="ctr"/>
          <a:lstStyle/>
          <a:p>
            <a:pPr indent="0" marL="0">
              <a:buNone/>
            </a:pPr>
            <a:r>
              <a:rPr lang="en-US" sz="2000" dirty="0">
                <a:solidFill>
                  <a:srgbClr val="D7F5F0"/>
                </a:solidFill>
                <a:latin typeface="Malgun Gothic" pitchFamily="34" charset="0"/>
                <a:ea typeface="Malgun Gothic" pitchFamily="34" charset="-122"/>
                <a:cs typeface="Malgun Gothic" pitchFamily="34" charset="-120"/>
              </a:rPr>
              <a:t>상세 강의 슬라이드  ·  전체 60시간 (8일)</a:t>
            </a:r>
            <a:endParaRPr lang="en-US" sz="2000" dirty="0"/>
          </a:p>
        </p:txBody>
      </p:sp>
      <p:sp>
        <p:nvSpPr>
          <p:cNvPr id="7" name="Text 5"/>
          <p:cNvSpPr/>
          <p:nvPr/>
        </p:nvSpPr>
        <p:spPr>
          <a:xfrm>
            <a:off x="731520" y="6035040"/>
            <a:ext cx="10058400" cy="457200"/>
          </a:xfrm>
          <a:prstGeom prst="rect">
            <a:avLst/>
          </a:prstGeom>
          <a:noFill/>
          <a:ln/>
        </p:spPr>
        <p:txBody>
          <a:bodyPr wrap="square" rtlCol="0" anchor="ctr"/>
          <a:lstStyle/>
          <a:p>
            <a:pPr indent="0" marL="0">
              <a:buNone/>
            </a:pPr>
            <a:r>
              <a:rPr lang="en-US" sz="1400" dirty="0">
                <a:solidFill>
                  <a:srgbClr val="9FD9D2"/>
                </a:solidFill>
                <a:latin typeface="Malgun Gothic" pitchFamily="34" charset="0"/>
                <a:ea typeface="Malgun Gothic" pitchFamily="34" charset="-122"/>
                <a:cs typeface="Malgun Gothic" pitchFamily="34" charset="-120"/>
              </a:rPr>
              <a:t>담당: 코리아IT아카데미 전임강사   |   레포: network_zt/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1</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네트워크 기초 I - OSI 7계층과 TCP/IP</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OSI 7계층 모델의 각 계층 역할을 설명할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TCP/IP의 3-way handshake 과정을 이해한다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패킷 캡처 도구로 실제 패킷 구조를 분석할 수 있다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설계·문서 기초자료</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network_zt/day01_basics.md</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강의1</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강의2</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4" name="Shape 12"/>
          <p:cNvSpPr/>
          <p:nvPr/>
        </p:nvSpPr>
        <p:spPr>
          <a:xfrm>
            <a:off x="4114800" y="5760720"/>
            <a:ext cx="1554480" cy="685800"/>
          </a:xfrm>
          <a:prstGeom prst="roundRect">
            <a:avLst>
              <a:gd name="adj" fmla="val 8000"/>
            </a:avLst>
          </a:prstGeom>
          <a:solidFill>
            <a:srgbClr val="00A896">
              <a:alpha val="80000"/>
            </a:srgbClr>
          </a:solidFill>
          <a:ln/>
        </p:spPr>
      </p:sp>
      <p:sp>
        <p:nvSpPr>
          <p:cNvPr id="15" name="Text 13"/>
          <p:cNvSpPr/>
          <p:nvPr/>
        </p:nvSpPr>
        <p:spPr>
          <a:xfrm>
            <a:off x="411480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네트워크를 배우는 이유 - 보안관제·기술영업 관점</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보안관제 담당자가 '왜 접속이 안 되나요'라는 고객 문의를 받았을 때, 네트워크 계층 구조를 모르면 원인을 좁혀갈 수 없다는 점을 사례로 제시한다. 2과목(네트워크·ZT)이 3~5과목(접근통제·이상탐지·SOAR)의 공통 배경지식이 됨을 강조한다.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고객이 '인터넷이 느려요'라고만 말했을 때, 어느 계층부터 확인해야 원인을 좁힐 수 있을까요?</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OSI 7계층 - 물리/데이터링크/네트워크 계층</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20-50분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1계층(물리, 전기신호/케이블), 2계층(데이터링크, MAC주소/스위치), 3계층(네트워크, IP주소/라우터)의 역할과 대표 장비를 표로 정리한다. 각 계층에서 다루는 주소 체계(MAC vs IP)의 차이를 명확히 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같은 사무실 안의 두 PC가 통신할 때와, 인터넷 너머 서버와 통신할 때 주로 쓰이는 주소 체계가 다른 이유는 무엇일까요?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1계층: 케이블, 허브 - 전기신호</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2계층: 스위치 - MAC 주소로 같은 네트워크 내 전달</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3계층: 라우터 - IP 주소로 다른 네트워크 간 전달</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OSI 7계층 - 전송/세션/표현/응용 계층</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50-80분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4계층(전송, TCP/UDP·포트번호), 5~6계층(세션·표현), 7계층(응용, HTTP/DNS/SMTP 등)을 다룬다. 포트번호가 '같은 IP 안에서 어떤 서비스로 갈지'를 구분한다는 점을 강조한다.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같은 서버(같은 IP)에서 웹사이트와 이메일 서비스를 동시에 운영할 수 있는 이유는 무엇일까요?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포트 80: HTTP</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포트 443: HTTPS</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포트 22: SSH</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포트 53: DNS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계층 구조로 장애를 좁혀가는 법</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80-105분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'물리 케이블은 꽂혀있는데 인터넷이 안 된다'와 같은 상황을 1계층부터 7계층까지 순서대로 점검하는 진단 흐름(bottom-up troubleshooting)으로 실습한다.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3계층(핑)까지는 성공했는데 4계층(포트 연결)이 실패한다면, 방화벽이 원인일 가능성이 있는 이유는 무엇일까요?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1. 케이블/포트 연결 확인(1계층)</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2. 스위치 포트 상태 확인(2계층)</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3. IP 할당·핑 테스트(3계층)</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4. 포트 연결(telnet 등)(4계층)</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5. 서비스 응답 확인(7계층)</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정리</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105-120분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OSI 7계층을 한 장 표로 정리하고 TCP/IP로 넘어간다.</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TCP vs UDP</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TCP(연결지향, 신뢰성 보장)와 UDP(비연결, 빠르지만 신뢰성 없음)의 차이를 우체국 등기우편 vs 일반우편에 비유해 설명한다. 각각 어떤 서비스에 쓰이는지(웹=TCP, 스트리밍/DNS 질의=UDP) 예시를 든다.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화상회의(실시간 영상)와 파일 다운로드, 어느 쪽이 TCP에 더 적합할까요?</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3-way Handshake 상세</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SYN → SYN-ACK → ACK로 이어지는 TCP 연결 수립 과정을 순서도로 설명하고, 이후 이상탐지 과목에서 배울 SYN Flood 공격의 배경지식이 됨을 예고한다.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만약 공격자가 SYN만 계속 보내고 ACK는 보내지 않는다면 서버에 어떤 부담이 생길까요?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Client -&gt; Server: SYN (연결 요청)</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Server -&gt; Client: SYN-ACK (승인+역요청)</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Client -&gt; Server: ACK (승인)</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연결 수립 완료, 데이터 전송 시작</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IP 헤더와 패킷 구조</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55-85분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출발지/목적지 IP, TTL, 프로토콜 필드 등 IP 헤더의 핵심 필드를 소개하고, Wireshark 화면을 보며 실제 패킷에서 이 필드들을 찾아보는 실습을 진행한다.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TTL(Time To Live) 값이 0이 되면 패킷은 어떻게 될까요?</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Wireshark 설치와 기본 사용법</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85-110분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Wireshark 설치, 인터페이스 선택, 캡처 시작/정지, 필터(예: tcp.port==80) 사용법을 실습한다.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특정 IP와 주고받은 패킷만 보고 싶을 때 어떤 필터를 쓸까요?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필터 예시:</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ip.addr == 192.168.0.1</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tcp.port == 443</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http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실습 안내</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110-120분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Wireshark로 직접 패킷을 캡처하고 3-way handshake를 눈으로 확인하는 실습을 안내한다.</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패킷 캡처·분석 실습</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Wireshark로 실제 패킷을 캡처해 3-way handshake와 IP/TCP 헤더 구조를 직접 확인한다.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Wireshark를 설치하고 자신의 네트워크 인터페이스를 선택해 캡처를 시작한다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브라우저로 특정 웹사이트에 접속하며 동시에 패킷을 캡처한다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필터(tcp.port==443 또는 http)로 해당 트래픽만 걸러본다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캡처된 패킷 중 SYN, SYN-ACK, ACK 3개를 찾아 캡처 화면을 스크린샷으로 남긴다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IP 헤더에서 출발지/목적지 IP, TTL 값을 확인해 기록한다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network_zt/day01_packet_analysis.md에 캡처 결과와 관찰 내용을 정리한다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network_zt/day01_packet_analysis.md (캡처 스크린샷 포함)</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3-way handshake 3단계를 정확히 식별했는가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IP 헤더 핵심 필드(출발지/목적지/TTL)를 올바르게 읽었는가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필터를 활용해 원하는 트래픽만 걸러냈는가</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2</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IP 주소 체계·서브네팅 &amp; 라우팅·VLAN</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IP 주소 체계와 서브넷 마스크를 계산할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라우팅의 기본 개념을 이해한다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VLAN으로 논리적 네트워크를 분리하는 이유를 이해한다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설계·문서 기초자료</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network_zt/day02_subnetting.md</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강의1</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강의2</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4" name="Shape 12"/>
          <p:cNvSpPr/>
          <p:nvPr/>
        </p:nvSpPr>
        <p:spPr>
          <a:xfrm>
            <a:off x="4114800" y="5760720"/>
            <a:ext cx="1554480" cy="685800"/>
          </a:xfrm>
          <a:prstGeom prst="roundRect">
            <a:avLst>
              <a:gd name="adj" fmla="val 8000"/>
            </a:avLst>
          </a:prstGeom>
          <a:solidFill>
            <a:srgbClr val="00A896">
              <a:alpha val="80000"/>
            </a:srgbClr>
          </a:solidFill>
          <a:ln/>
        </p:spPr>
      </p:sp>
      <p:sp>
        <p:nvSpPr>
          <p:cNvPr id="15" name="Text 13"/>
          <p:cNvSpPr/>
          <p:nvPr/>
        </p:nvSpPr>
        <p:spPr>
          <a:xfrm>
            <a:off x="411480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IPv4 주소 구조</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32비트 IPv4 주소를 8비트씩 4묶음(옥텟)으로 표현하는 방식, 공인IP·사설IP(10.x, 172.16~31.x, 192.168.x)의 차이를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회사 내부 PC들이 모두 192.168.x.x 대역을 쓰는데 인터넷은 어떻게 접속할 수 있을까요? (NAT 예고)</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192.168.0.1 = 11000000.10101000.00000000.00000001</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서브넷 마스크와 CIDR 표기법</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서브넷 마스크가 네트워크 부분과 호스트 부분을 구분한다는 점, /24, /16 같은 CIDR 표기법을 읽는 법을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/24보다 /28이 더 좁은 대역인데, /28에서는 몇 개의 호스트를 쓸 수 있을까요?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192.168.1.0/24</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서브넷마스크 255.255.255.0</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네트워크부 24비트 + 호스트부 8비트</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호스트 254개 가능(2^8 - 2)</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서브네팅 계산 실습</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55-85분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실제 기업 환경(영업팀 50대, 개발팀 30대, 서버팀 10대)을 가정해 필요한 서브넷을 설계하는 계산 실습을 진행한다.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왜 팀마다 같은 대역을 나눠 쓰지 않고 서브넷으로 쪼갤까요? (보안·트래픽 분리 관점)</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영업팀: 192.168.10.0/26 (호스트 62개)</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개발팀: 192.168.10.64/27 (호스트 30개)</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서버팀: 192.168.10.96/28 (호스트 14개)</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NAT(Network Address Translation) 개념</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85-110분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사설IP가 공인IP로 변환되어 인터넷과 통신하는 NAT의 기본 원리를 설명하고, 이것이 왜 '첫 번째 방어선'이 되는지 짚는다.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NAT가 없다면 사내 PC 하나하나가 공인IP를 가져야 할 텐데, 어떤 문제(IP 고갈, 보안)가 생길까요?</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정리</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110-120분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IP·서브네팅·NAT 핵심 개념을 정리하고 라우팅/VLAN으로 넘어간다.</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라우팅이란 무엇인가</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라우터가 목적지 IP를 보고 다음 홉(hop)을 결정하는 과정을 라우팅 테이블 개념으로 설명한다. 기본 게이트웨이(default gateway)의 역할을 짚는다.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라우팅 테이블에 없는 목적지로 가는 패킷은 기본적으로 어디로 보내질까요?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라우팅 테이블 예시:</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목적지 192.168.20.0/24 -&gt; 다음 홉 10.0.0.1</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기본 경로(0.0.0.0/0) -&gt; 인터넷 게이트웨이</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정적 라우팅과 동적 라우팅</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관리자가 직접 경로를 입력하는 정적 라우팅과, 라우터끼리 자동으로 경로를 교환하는 동적 라우팅의 차이와 각각의 장단점을 비교한다.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소규모 지사 네트워크와 대형 통신사 백본망, 어느 쪽이 동적 라우팅이 더 필요할까요?</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스위치와 VLAN 개념</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50-75분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물리적으로 같은 스위치에 연결되어 있어도 VLAN으로 논리적으로 다른 네트워크처럼 분리할 수 있다는 점을 설명한다. 보안 관점에서 VLAN 분리가 왜 중요한지 강조한다.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게스트 Wi-Fi를 VLAN으로 분리하지 않으면 어떤 보안 위험이 생길 수 있을까요?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VLAN 10: 영업팀</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VLAN 20: 개발팀</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VLAN 99: 게스트 Wi-Fi (사내망과 완전 분리)</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망 구성도에서 라우팅·VLAN 읽기</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75-100분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실제 기업 망 구성도 예시(본사-지사, DMZ, 내부망)를 보여주며 어디가 라우터 구간이고 어디가 VLAN으로 분리된 구간인지 읽는 연습을 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망 구성도에서 'DMZ'라고 표시된 구간은 왜 내부망과 분리되어 있을까요?</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실습 안내</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100-120분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가상의 망 구성도를 보고 IP대역·라우팅 경로·VLAN 구성을 식별하는 실습을 안내한다.</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망 구성도 분석 및 서브네팅 설계</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주어진 기업 시나리오에 맞는 서브넷을 설계하고, 망 구성도에서 라우팅 경로를 식별한다.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가상 A사 시나리오(본사 3개 부서, 지사 1곳, 서버실)를 확인한다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각 부서/지사에 필요한 호스트 수를 산정하고 알맞은 서브넷(/26, /27, /28 등)을 설계한다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설계한 서브넷 표를 network_zt/day02_subnet_design.md에 정리한다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제공된 망 구성도 이미지에서 라우터, 스위치, VLAN 경계를 표시해본다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본사에서 지사로 가는 패킷이 거치는 경로를 순서대로 적어본다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조원과 서로의 서브넷 설계를 비교하며 겹치는 대역이 없는지 교차 검증한다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network_zt/day02_subnet_design.md</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서브넷 계산(사용 가능 호스트 수)이 정확한가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부서 간 대역이 겹치지 않는가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망 구성도에서 라우팅 경로를 올바르게 식별했는가</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3</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DNS 개념과 동작원리</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DNS의 계층 구조(Root/TLD/Authoritative)를 이해한다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재귀·반복 질의 과정을 설명할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DNS 관련 보안 이슈(스푸핑 등)를 식별할 수 있다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설계·문서 기초자료</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network_zt/day03_dns.md</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강의1</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강의2</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4" name="Shape 12"/>
          <p:cNvSpPr/>
          <p:nvPr/>
        </p:nvSpPr>
        <p:spPr>
          <a:xfrm>
            <a:off x="4114800" y="5760720"/>
            <a:ext cx="1554480" cy="685800"/>
          </a:xfrm>
          <a:prstGeom prst="roundRect">
            <a:avLst>
              <a:gd name="adj" fmla="val 8000"/>
            </a:avLst>
          </a:prstGeom>
          <a:solidFill>
            <a:srgbClr val="00A896">
              <a:alpha val="80000"/>
            </a:srgbClr>
          </a:solidFill>
          <a:ln/>
        </p:spPr>
      </p:sp>
      <p:sp>
        <p:nvSpPr>
          <p:cNvPr id="15" name="Text 13"/>
          <p:cNvSpPr/>
          <p:nvPr/>
        </p:nvSpPr>
        <p:spPr>
          <a:xfrm>
            <a:off x="411480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DNS가 필요한 이유</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사람은 도메인 이름(예: example.com)을 기억하지만 컴퓨터는 IP 주소로 통신한다는 점에서 DNS를 '인터넷의 전화번호부'에 비유해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DNS가 없다면 웹사이트에 접속할 때마다 무엇을 외우고 있어야 할까요?</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DNS 계층구조 - Root, TLD, Authoritative</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20-50분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루트 서버 → TLD 서버(.com, .kr 등) → 권위(Authoritative) 서버로 이어지는 계층 구조를 다이어그램으로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Root 서버가 다운되면 전세계 DNS 조회에 어떤 영향이 있을까요?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www.example.com 조회 순서:</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1. Root 서버: .com은 어디? -&gt; TLD 서버 주소 응답</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2. TLD(.com) 서버: example.com은 어디? -&gt; Authoritative 서버 주소 응답</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3. Authoritative 서버: www 레코드는? -&gt; 최종 IP 응답</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재귀 질의 vs 반복 질의</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50-80분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우리 PC가 사용하는 DNS 리졸버가 대신 여러 서버를 오가며 답을 찾아주는 재귀 질의와, 서버끼리 주고받는 반복 질의의 차이를 순서도로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우리 PC는 Root, TLD, Authoritative 서버에 각각 직접 물어보지 않는데 그 이유는 무엇일까요?</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주요 DNS 레코드 타입</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80-105분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A(IPv4 주소), AAAA(IPv6), CNAME(별칭), MX(메일서버), TXT(검증용) 레코드의 용도를 표로 정리한다.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www.example.com과 example.com이 같은 곳으로 연결되게 하려면 어떤 레코드를 쓸까요?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example.com.  A     93.184.216.34</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www.example.com. CNAME example.com.</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example.com.  MX    10 mail.example.com.</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정리</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105-120분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DNS 계층구조와 레코드 타입을 정리하고 보안 이슈로 넘어간다.</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nslookup/dig 명령어 실습</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nslookup(Windows)과 dig(Mac/Linux)로 도메인의 A 레코드, MX 레코드를 직접 조회하는 실습을 진행한다.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dig +trace 명령은 무엇을 보여줄까요?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nslookup example.com</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dig example.com MX</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dig +trace example.com</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DNS 캐싱과 TTL</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DNS 응답에도 TTL이 있어 일정 시간 캐싱된다는 점, DNS 레코드를 변경해도 즉시 전세계에 반영되지 않는다는 점(전파 지연)을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회사 웹사이트의 IP를 변경했는데 일부 사용자에게는 여전히 예전 사이트가 보인다면, 원인이 무엇일까요?</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DNS Spoofing/Cache Poisoning 개념</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50-80분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공격자가 조작된 DNS 응답을 캐시에 주입해 사용자를 가짜 사이트로 유도하는 원리를 개념 수준에서 설명하고, 4과목 '비인가 접근·이상행위' 탐지 대상과 연결됨을 예고한다.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은행 사이트 도메인을 입력했는데 이상한 페이지가 뜬다면, DNS 관점에서 어떤 것을 의심해볼 수 있을까요?</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DNS 로그에서 이상징후 찾기</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80-105분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정상적이지 않은 DNS 질의 패턴(무작위 문자열 도메인 대량 조회, DGA 개념)을 소개하고, 로그에서 어떤 특징을 봐야 하는지 짚는다.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무작위 문자열로 된 도메인을 짧은 시간에 대량으로 조회하는 PC가 있다면 무엇을 의심해볼 수 있을까요?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정상: naver.com, google.com</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의심: xjk3f9as0.com, q83nfoa2.net, ...(악성코드 C2 통신 특징)</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실습 안내</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105-120분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nslookup/dig로 여러 도메인을 조회하고 DNS 로그 샘플에서 이상징후를 찾는 실습을 안내한다.</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DNS 조회 및 이상징후 식별</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nslookup/dig로 실제 도메인을 조회하고, DNS 로그 샘플에서 정상·비정상 패턴을 구분한다.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nslookup(또는 dig)으로 5개 이상 도메인의 A, MX 레코드를 조회하고 결과를 기록한다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dig +trace로 하나의 도메인에 대해 Root부터 Authoritative까지 전체 조회 경로를 확인한다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제공된 DNS 로그 샘플(정상 도메인과 DGA 스타일 도메인이 섞인 30줄)을 검토한다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무작위 문자열 패턴, 비정상적으로 짧은 TTL 등 의심 기준을 세워 이상 도메인을 골라낸다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골라낸 이상 도메인 목록과 판단 근거를 network_zt/day03_dns_analysis.md에 정리한다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조원과 서로 다른 판단 기준을 비교해보며 기준을 보완한다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network_zt/day03_dns_analysis.md</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nslookup/dig 명령을 정확히 사용했는가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DGA 스타일 등 의심 도메인을 합리적 근거로 식별했는가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판단 기준이 명확히 문서화되었는가</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4</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VPN 개념·종류 &amp; 방화벽 기본</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VPN의 개념과 Site-to-Site/Remote Access 방식을 구분할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방화벽의 기본 개념과 Allow/Deny 정책을 이해한다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간단한 방화벽 정책 시나리오를 설계할 수 있다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설계·문서 기초자료</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network_zt/day04_vpn_firewall.md</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강의1</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강의2</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4" name="Shape 12"/>
          <p:cNvSpPr/>
          <p:nvPr/>
        </p:nvSpPr>
        <p:spPr>
          <a:xfrm>
            <a:off x="4114800" y="5760720"/>
            <a:ext cx="1554480" cy="685800"/>
          </a:xfrm>
          <a:prstGeom prst="roundRect">
            <a:avLst>
              <a:gd name="adj" fmla="val 8000"/>
            </a:avLst>
          </a:prstGeom>
          <a:solidFill>
            <a:srgbClr val="00A896">
              <a:alpha val="80000"/>
            </a:srgbClr>
          </a:solidFill>
          <a:ln/>
        </p:spPr>
      </p:sp>
      <p:sp>
        <p:nvSpPr>
          <p:cNvPr id="15" name="Text 13"/>
          <p:cNvSpPr/>
          <p:nvPr/>
        </p:nvSpPr>
        <p:spPr>
          <a:xfrm>
            <a:off x="411480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VPN이 필요한 이유</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공용 인터넷을 통해 안전하지 않은 구간을 암호화된 터널로 연결해 마치 사설망처럼 통신하게 하는 VPN의 필요성을 재택근무·지사 연결 사례로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재택근무자가 회사 내부 시스템에 접속할 때 VPN 없이 접속하면 어떤 위험이 있을까요?</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Site-to-Site VPN</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20-50분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본사-지사처럼 네트워크와 네트워크를 통째로 연결하는 Site-to-Site VPN의 구조를 다이어그램으로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Site-to-Site VPN은 개별 직원이 아니라 무엇과 무엇을 연결하는 걸까요?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본사 네트워크(192.168.10.0/24) &lt;-VPN 터널-&gt; 지사 네트워크(192.168.20.0/24)</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Remote Access VPN</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50-80분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개별 사용자가 자신의 PC/노트북에서 회사 네트워크로 접속하는 Remote Access VPN의 구조와, 클라이언트 프로그램·인증 절차를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Site-to-Site VPN과 Remote Access VPN 중, 재택근무자 개인에게 필요한 것은 어느 쪽일까요?</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VPN과 Zero Trust의 관계(예고)</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80-105분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전통적인 VPN은 '터널 안에 들어오면 신뢰'하는 경계 기반 보안 모델이라는 한계가 있다는 점을 짚고, 이것이 Zero Trust가 등장한 배경 중 하나임을 예고한다.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VPN에 접속한 사람이 내부에서 아무 자원이나 접근할 수 있다면 어떤 위험이 있을까요?</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정리</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105-120분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VPN 종류와 한계를 정리하고 방화벽으로 넘어간다.</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방화벽이란 무엇인가</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방화벽이 정해진 규칙(룰)에 따라 트래픽을 허용(Allow)하거나 차단(Deny)하는 장비/소프트웨어라는 점을 건물의 출입 통제에 비유해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방화벽 규칙이 하나도 없다면(모두 허용) 어떤 위험이 있을까요?</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방화벽 규칙 구성 요소</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출발지 IP, 목적지 IP, 포트, 프로토콜, 액션(Allow/Deny)으로 구성되는 방화벽 룰의 구조를 실제 룰 예시로 설명한다. 룰의 순서(위에서부터 순차 적용)가 중요하다는 점을 강조한다.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룰1과 룰2의 순서를 바꾸면 결과가 달라질까요?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룰1: 출발지 any, 목적지 웹서버, 포트 443, Allow</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룰2: 출발지 any, 목적지 웹서버, 포트 22, Deny</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룰3(기본): 출발지 any, 목적지 any, Deny</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화이트리스트 vs 블랙리스트 정책</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55-85분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기본적으로 모두 막고 필요한 것만 허용하는 화이트리스트(최소권한) 방식과, 기본적으로 모두 허용하고 위험한 것만 막는 블랙리스트 방식을 비교한다.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새로운 공격 기법이 매일 등장하는 상황에서, 블랙리스트 방식만으로 충분히 방어할 수 있을까요?</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방화벽 정책 설계 실습 준비</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85-110분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가상 시나리오(웹서버는 443만 외부 허용, DB서버는 내부망에서만 접근, 관리자는 특정 IP에서만 SSH 허용)를 제시하고 룰셋 설계 방법을 함께 시연한다.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DB서버에 외부에서 직접 접근할 수 있게 열어두면 어떤 위험이 있을까요?</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실습 안내</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110-120분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가상 시나리오에 맞는 방화벽 룰셋을 설계하는 실습을 안내한다.</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방화벽 정책 시나리오 설계</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가상 기업 환경에 맞는 방화벽 룰셋을 화이트리스트 원칙으로 설계한다.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가상 A사 시나리오(웹서버, DB서버, 내부 사무망, 관리자 PC)를 확인한다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각 자원별로 누가/어디서/어떤 포트로 접근해야 하는지 요구사항을 정리한다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화이트리스트 원칙으로 룰셋을 설계한다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룰의 순서(구체적인 룰을 먼저, 기본 차단을 마지막에)를 고려해 배치한다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network_zt/day04_firewall_ruleset.md에 룰셋 표를 작성한다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조원과 서로의 룰셋을 검토하며 불필요하게 넓게 열린 규칙이 없는지 점검한다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network_zt/day04_firewall_ruleset.md</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화이트리스트 원칙(최소권한)이 적용되었는가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룰 순서가 논리적으로 배치되었는가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DB서버 등 민감 자원이 불필요하게 노출되지 않았는가</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5</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클라우드·SaaS 환경·망 구성도 &amp; 네트워크 품질지표</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IaaS/PaaS/SaaS의 차이와 접속 흐름을 이해하고 망 구성도를 작성할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네트워크 품질지표(Latency·Jitter·Packet Loss·RTT)를 측정·해석할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SaaS 접속 지연 원인을 지표 기반으로 진단할 수 있다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설계·문서 기초자료</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network_zt/day05_cloud_quality.md</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강의1</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강의2</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4" name="Shape 12"/>
          <p:cNvSpPr/>
          <p:nvPr/>
        </p:nvSpPr>
        <p:spPr>
          <a:xfrm>
            <a:off x="4114800" y="5760720"/>
            <a:ext cx="1554480" cy="685800"/>
          </a:xfrm>
          <a:prstGeom prst="roundRect">
            <a:avLst>
              <a:gd name="adj" fmla="val 8000"/>
            </a:avLst>
          </a:prstGeom>
          <a:solidFill>
            <a:srgbClr val="00A896">
              <a:alpha val="80000"/>
            </a:srgbClr>
          </a:solidFill>
          <a:ln/>
        </p:spPr>
      </p:sp>
      <p:sp>
        <p:nvSpPr>
          <p:cNvPr id="15" name="Text 13"/>
          <p:cNvSpPr/>
          <p:nvPr/>
        </p:nvSpPr>
        <p:spPr>
          <a:xfrm>
            <a:off x="411480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IaaS/PaaS/SaaS 비교</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인프라(서버)만 빌리는 IaaS, 개발 플랫폼까지 제공되는 PaaS, 완성된 서비스를 그대로 쓰는 SaaS의 차이를 '집을 짓는 것 vs 완제품 아파트 임대'에 비유해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회사가 자체 서버 없이 이메일·문서작업 서비스를 그대로 쓴다면 이는 어떤 유형일까요?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IaaS: AWS EC2, Azure VM</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PaaS: AWS Elastic Beanstalk, Heroku</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SaaS: 협업툴, 그룹웨어, CRM 서비스</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SaaS 접속 흐름과 재택근무 확대의 영향</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20-45분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사내 PC → 사내망 → 방화벽/프록시 → 인터넷 → SaaS 서버로 이어지는 접속 경로를 설명하고, 재택근무 확대로 VPN을 거치지 않고 SaaS에 직접 접속하는 경우가 늘면서 발생하는 가시성 이슈를 짚는다(Zero Trust 도입 배경 예고).</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직원이 회사 VPN을 거치지 않고 집에서 바로 SaaS에 접속하면, 보안팀은 그 접속을 얼마나 파악할 수 있을까요?</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망 구성도의 표준 표기법과 DMZ</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45-70분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라우터, 스위치, 방화벽, 서버를 나타내는 표준 아이콘과 선의 의미를 정리하고, 외부 공개 서버를 내부망과 분리된 DMZ 영역에 두는 이유를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웹서버가 해킹당했을 때, DMZ 구조가 없다면 내부망까지 바로 위험해지는 이유는 무엇일까요?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인터넷 -- 외부방화벽 -- DMZ(웹서버) -- 내부방화벽 -- 내부망(DB, 사무망)</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실제 망 구성도 읽기 실습</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70-95분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본사-지사-클라우드가 혼합된 실제 스타일의 망 구성도 샘플을 보며 각 구간(내부망/DMZ/클라우드/VPN 터널)을 식별하는 실습을 진행한다.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이 구성도에서 SaaS로 나가는 트래픽은 어느 구간을 거치나요?</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draw.io로 망 구성도 작성 실습 준비</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95-120분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무료 다이어그램 도구(draw.io)의 기본 사용법(도형 추가, 선 연결, 텍스트 입력)을 시연하고 실습을 예고한다.</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Latency·Jitter란</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패킷이 출발지에서 목적지까지 도달하는 데 걸리는 시간(Latency)과, 그 지연이 들쭉날쭉한 정도(Jitter)를 정의한다. 화상회의처럼 실시간성이 중요한 서비스에서 Jitter가 왜 특히 치명적인지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평균 Latency는 낮은데 Jitter가 크면 화상회의 품질은 어떻게 느껴질까요?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패킷1: 50ms, 패킷2: 52ms, 패킷3: 120ms, 패킷4: 48ms</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Jitter가 크다 (불안정)</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ping으로 Latency·Jitter 측정</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20-45분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ping 명령으로 왕복시간(RTT)을 측정하고, 여러 번 측정한 값의 편차를 보며 Jitter를 가늠하는 실습을 진행한다.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ping 결과에서 유독 한 번만 응답시간이 크게 튄다면 무엇을 의심해볼 수 있을까요?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ping example.com</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Reply from ...: time=45ms</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Reply from ...: time=48ms</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Reply from ...: time=112ms  &lt;- 이상 징후</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Packet Loss와 traceroute</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45-70분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패킷 손실(Packet Loss) 개념과 원인을 설명하고, traceroute/tracert로 출발지부터 목적지까지 각 구간의 지연을 확인하는 법을 실습한다.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traceroute 결과에서 특정 홉에서만 지연이 갑자기 커진다면, 그 구간에 문제가 있다고 의심할 수 있는 이유는 무엇일까요?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traceroute example.com</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1  192.168.1.1  1ms</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2  10.0.0.1     5ms</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3  203.0.113.1  45ms  &lt;- 여기서 지연 급증</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4  example.com  46ms</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종합 진단 시나리오 - SaaS 접속 지연</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70-95분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고객이 'SaaS 접속이 느리다'고 문의한 상황을 가정해, ping(Latency/Jitter) → traceroute(구간별 지연) → 방화벽/프록시 로그 순서로 원인을 좁혀가는 진단 흐름을 실습한다.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ping은 정상인데 traceroute에서 특정 구간만 느리다면, 다음으로 무엇을 확인해야 할까요?</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실습 안내</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95-120분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망 구성도 작성과 품질지표 측정·진단 리포트 작성 실습을 안내한다.</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망 구성도 작성 및 품질지표 진단 리포트</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가상 A사 환경의 망 구성도를 작성하고, 품질지표를 실측해 SaaS 접속 지연 진단 리포트를 완성한다.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가상 A사 시나리오(본사, 지사, DMZ 웹서버, 내부 DB, SaaS 사용 현황) 문서를 읽는다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draw.io(또는 손그림)로 인터넷-외부방화벽-DMZ-내부방화벽-내부망 구조를 그리고 VPN 터널·SaaS 트래픽 경로를 표시한다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3개 이상의 목적지에 ping을 10회씩 실행해 평균/최대 Latency와 Jitter를 계산한다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동일 목적지에 traceroute를 실행해 구간별 지연을 기록한다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가상 SaaS 접속 지연 시나리오에 대한 진단 결론을 데이터 근거와 함께 작성한다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network_zt/day05_diagram.png, day05_quality_report.md로 정리한다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network_zt/day05_diagram.png, network_zt/day05_quality_report.md</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DMZ와 내부망이 명확히 분리되어 표현되었는가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Latency·Jitter·Packet Loss 개념을 정확히 구분해 적용했는가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측정 데이터에 근거해 지연 원인을 논리적으로 추정했는가</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6</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Zero Trust 원칙 &amp; PDP/PEP·최소권한·지속검증</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Zero Trust 5대 원칙(ID·Device·Network·Application·Policy)을 설명할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PDP/PEP 구조와 정책 결정·집행 흐름을 이해한다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최소권한·지속적 검증 개념을 적용해 시나리오를 설계할 수 있다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보안 자세 점검·스코어링 로직</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network_zt/day06_zt_pdp_pep.md</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강의1</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강의2</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4" name="Shape 12"/>
          <p:cNvSpPr/>
          <p:nvPr/>
        </p:nvSpPr>
        <p:spPr>
          <a:xfrm>
            <a:off x="4114800" y="5760720"/>
            <a:ext cx="1554480" cy="685800"/>
          </a:xfrm>
          <a:prstGeom prst="roundRect">
            <a:avLst>
              <a:gd name="adj" fmla="val 8000"/>
            </a:avLst>
          </a:prstGeom>
          <a:solidFill>
            <a:srgbClr val="00A896">
              <a:alpha val="80000"/>
            </a:srgbClr>
          </a:solidFill>
          <a:ln/>
        </p:spPr>
      </p:sp>
      <p:sp>
        <p:nvSpPr>
          <p:cNvPr id="15" name="Text 13"/>
          <p:cNvSpPr/>
          <p:nvPr/>
        </p:nvSpPr>
        <p:spPr>
          <a:xfrm>
            <a:off x="411480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경계 기반 보안의 한계와 Zero Trust 등장</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'회사 네트워크 안은 안전하고, 밖은 위험하다'는 전통적 경계 기반 보안 모델을 설명하고, 재택근무·클라우드·SaaS 확산으로 '경계' 자체가 흐려진 현실(5일차 내용과 연결)을 짚는다. '아무도 기본적으로 신뢰하지 않고 매번 검증한다'는 Zero Trust의 핵심 철학을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직원이 이미 VPN으로 접속했다면, 내부의 모든 자원에 접근할 수 있게 하는 것이 왜 위험할까요?</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ZT 5대 원칙 개관 - ID·Device·Network</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20-55분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ID(신원 검증, MFA), Device(기기 상태 검증, 백신·패치 여부), Network(마이크로 세그멘테이션)의 의미를 예시로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재택근무자가 개인 노트북(회사 보안 기준 미충족)으로 접속하려 한다면 ZT는 어떤 축에서 이를 걸러낼까요?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ID: 이 사용자가 진짜 김철수인가? (MFA)</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Device: 이 기기는 회사 보안 기준을 충족하는가?</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Network: 이 요청이 필요한 자원에만 도달하는가?</a:t>
            </a:r>
            <a:endParaRPr lang="en-US" sz="12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ZT 5대 원칙 개관 - Application·Policy</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55-85분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특정 앱에만 접근을 허용하는 Application 축과, 접속 시간·위치·위험도에 따라 정책이 동적으로 바뀌는 Policy 축(위험기반 인증)을 사례로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평소와 다른 국가에서 로그인 시도가 발생하면 Policy 축에서는 어떤 조치를 취할 수 있을까요?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Application: 이 앱에 대한 접근 권한이 있는가?</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Policy: 해외 IP에서 접속 시 추가 인증 요구</a:t>
            </a:r>
            <a:endParaRPr lang="en-US" sz="12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ZT vs 경계보안 비교표 작성</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85-110분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경계 기반 보안과 ZT를 여러 기준(신뢰 전제, 검증 시점, 접근 범위)으로 비교하는 표를 함께 작성한다.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경계보안은 '한 번 들어오면 신뢰'하는 반면 ZT는 무엇을 매번 반복할까요?</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정리</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110-120분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ZT의 5대 원칙을 정리하고 PDP/PEP 구조로 넘어간다.</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PDP(Policy Decision Point)와 PEP(Policy Enforcement Point)</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'이 접근을 허용할지 판단하는 두뇌'인 PDP와, 그 결정을 실제로 집행하는 PEP의 역할을 설명한다. 판단과 집행이 분리되어 있는 이유를 짚는다.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PDP가 '거부'라고 판단했는데 PEP가 이를 무시하고 통과시킨다면 어떤 문제가 생길까요?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사용자 접근 요청 -&gt; PDP(판단: 허용/거부/추가인증) -&gt; PEP(집행: 실제로 통과시키거나 차단)</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PDP/PEP 흐름 다이어그램</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구체적 시나리오(직원이 사내 앱에 접속 요청 → PDP가 ID/Device/상황 확인 → 결정 → PEP가 집행)를 순서도로 함께 그린다.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이 흐름에서 만약 기기 보안 상태가 기준 미달이면 PDP는 어떤 결정을 내려야 할까요?</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최소권한 원칙 복습과 심화</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55-80분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업무 수행에 필요한 최소한의 권한만 부여한다는 원칙을 3과목(접근통제 자동화)과 연결지어 설명하고, ZT 관점에서는 이것이 '기본적으로 아무 권한도 없음(default deny)'에서 출발한다는 점을 강조한다.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신입사원에게 처음부터 모든 시스템 접근권한을 주는 것과, 필요할 때마다 요청받아 부여하는 것, ZT 철학에는 어느 쪽이 맞을까요?</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지속적 검증과 위험 기반 인증</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80-105분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로그인 시점에 한 번만 검증하는 것이 아니라, 세션 내내 상태 변화를 지속적으로 재검증하는 개념과, 위험도에 따라 인증 강도를 동적으로 조절하는 위험 기반 인증을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로그인 이후 세션을 끊지 않고 계속 유지한다면, 중간에 계정이 탈취되어도 이를 어떻게 알아챌 수 있을까요?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로그인 시점: 정상 인증</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30분 후: 다른 국가 IP로 갑자기 요청 발생 -&gt; 재검증 트리거 -&gt; 추가 인증 요구 또는 세션 종료</a:t>
            </a:r>
            <a:endParaRPr lang="en-US" sz="1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보안 자세 점검·스코어링 개념 예고</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105-120분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ID/Device/Network/Application/Policy 축과 최소권한·지속검증 개념을 종합해, 고객 환경의 ZT 성숙도를 점수화(스코어링)하는 접근법을 예고한다(캡스톤의 'ZT 보안 자세 점검·스코어링'과 직결).</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이런 점수 체계가 있으면, 고객사에게 '보안 수준이 어느 정도'라고 설명하기 더 쉬워질까요?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예시 스코어링 항목: MFA 적용률(20점), 기기 보안 점검 비율(20점), 최소권한 준수율(20점), 마이크로세그멘테이션 적용 여부(20점), 위험기반인증 적용 여부(20점)</a:t>
            </a:r>
            <a:endParaRPr lang="en-US" sz="12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ZT 적용 시나리오·PDP/PEP 흐름도 설계</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가상 A사 환경에 ZT 5대 원칙을 적용하고, PDP/PEP 흐름도와 최소권한 기준을 설계한다.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5일차 network_zt/day05_diagram.png(A사 환경)를 다시 검토한다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ID/Device/Network/Application/Policy 축별로 A사에 적용할 구체적 방안을 표로 정리한다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직원이 핵심 시스템에 접근하는 요청이 PDP에서 어떻게 판단되고 PEP에서 집행되는지 순서도로 그린다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부서별 최소권한 기준표를 작성한다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강의2에서 소개한 스코어링 항목표를 참고해 A사의 가상 ZT 성숙도 점수를 매겨본다(가정치 사용)</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network_zt/day06_zt_scenario.md에 5대 원칙 적용방안, 흐름도, 스코어링 결과를 정리한다 - 이 문서는 이후 3~5과목과 캡스톤의 'ZT 보안 자세 점검·스코어링' 기초자료로 재사용된다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network_zt/day06_zt_scenario.md</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5대 원칙 모두에 대해 구체적인 적용 방안이 제시되었는가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PDP의 판단 기준이 흐름도에 구체적으로 표시되었는가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스코어링 결과가 근거와 함께 제시되었는가</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7</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정책 로그 이해 &amp; 고객 환경 설명 문서화</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정책 로그의 주요 필드를 읽고 해석할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네트워크·보안 운영 언어를 비전문가에게 설명하는 문서를 작성할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고객 설명자료 작성 시 유의할 점을 이해한다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보안 자세 점검·스코어링 로직</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network_zt/day07_policy_log.md</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강의1</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강의2</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4" name="Shape 12"/>
          <p:cNvSpPr/>
          <p:nvPr/>
        </p:nvSpPr>
        <p:spPr>
          <a:xfrm>
            <a:off x="4114800" y="5760720"/>
            <a:ext cx="1554480" cy="685800"/>
          </a:xfrm>
          <a:prstGeom prst="roundRect">
            <a:avLst>
              <a:gd name="adj" fmla="val 8000"/>
            </a:avLst>
          </a:prstGeom>
          <a:solidFill>
            <a:srgbClr val="00A896">
              <a:alpha val="80000"/>
            </a:srgbClr>
          </a:solidFill>
          <a:ln/>
        </p:spPr>
      </p:sp>
      <p:sp>
        <p:nvSpPr>
          <p:cNvPr id="15" name="Text 13"/>
          <p:cNvSpPr/>
          <p:nvPr/>
        </p:nvSpPr>
        <p:spPr>
          <a:xfrm>
            <a:off x="411480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정책 로그란 무엇인가</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PDP/PEP가 접근 요청을 판단·집행할 때마다 남기는 로그(누가/언제/무엇에/어떤 결정)를 정책 로그로 정의하고, 이것이 왜 사후 감사·이상탐지의 핵심 데이터가 되는지 설명한다.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접근이 거부된 로그가 특정 사용자에게 반복적으로 쌓인다면 무엇을 의심해볼 수 있을까요?</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정책 로그 주요 필드</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timestamp, user, resource, action(allow/deny), reason, risk_score 등 정책 로그의 주요 필드를 실제 로그 예시로 보여주고 각 필드의 의미를 설명한다.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이 로그에서 접근이 거부된 이유는 무엇이며, 담당자는 무엇을 먼저 조치해야 할까요?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'timestamp': '2026-07-07T09:15:00',</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'user': 'kim01',</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'resource': 'hr-system',</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'action': 'deny',</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'reason': 'device_posture_fail',</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  'risk_score': 78</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a:t>
            </a:r>
            <a:endParaRPr lang="en-US" sz="12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정책 로그 패턴 분석</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55-85분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단일 로그 한 줄이 아니라, 여러 로그를 모아봤을 때 드러나는 패턴(특정 시간대 거부 급증, 특정 리소스에 반복 시도 등)을 찾는 관점을 실습한다.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새벽 시간대에만 특정 리소스에 대한 deny 로그가 몰려있다면 무엇을 의심할 수 있을까요?</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정책 로그와 1과목 자동화 스킬의 연결</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85-110분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1과목에서 배운 JSON 파싱·필터링 스킬이 정책 로그 분석에도 그대로 적용됨을 다시 확인하고, 로그 데이터를 구조화하는 관점을 복습한다.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1과목에서 만든 로그 필터링 함수를 이 정책 로그에도 그대로 쓸 수 있을까요?</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강의1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정리</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110-120분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정책 로그 해석 방법을 정리하고 고객 설명 문서화로 넘어간다.</a:t>
            </a:r>
            <a:endParaRPr lang="en-US" sz="15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기술 용어를 비전문가에게 설명하는 원칙</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00-25분</a:t>
            </a:r>
            <a:endParaRPr lang="en-US" sz="1200" dirty="0"/>
          </a:p>
        </p:txBody>
      </p:sp>
      <p:sp>
        <p:nvSpPr>
          <p:cNvPr id="5" name="Shape 3"/>
          <p:cNvSpPr/>
          <p:nvPr/>
        </p:nvSpPr>
        <p:spPr>
          <a:xfrm>
            <a:off x="548640" y="1554480"/>
            <a:ext cx="548640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4937760" cy="365760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고객(경영진, 비전공 담당자)에게 기술 내용을 설명할 때는 전문용어를 그대로 쓰지 않고 비유·결론 우선(두괄식)으로 전달해야 한다는 원칙을 사례로 비교한다.</a:t>
            </a:r>
            <a:endParaRPr lang="en-US" sz="1500" dirty="0"/>
          </a:p>
        </p:txBody>
      </p:sp>
      <p:sp>
        <p:nvSpPr>
          <p:cNvPr id="7" name="Text 5"/>
          <p:cNvSpPr/>
          <p:nvPr/>
        </p:nvSpPr>
        <p:spPr>
          <a:xfrm>
            <a:off x="822960" y="5394960"/>
            <a:ext cx="493776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두 설명 중 고객이 바로 이해하고 다음 행동을 할 수 있는 쪽은 어느 것일까요?</a:t>
            </a:r>
            <a:endParaRPr lang="en-US" sz="1300" dirty="0"/>
          </a:p>
        </p:txBody>
      </p:sp>
      <p:sp>
        <p:nvSpPr>
          <p:cNvPr id="8" name="Shape 6"/>
          <p:cNvSpPr/>
          <p:nvPr/>
        </p:nvSpPr>
        <p:spPr>
          <a:xfrm>
            <a:off x="6309360" y="1554480"/>
            <a:ext cx="5394960" cy="4663440"/>
          </a:xfrm>
          <a:prstGeom prst="roundRect">
            <a:avLst>
              <a:gd name="adj" fmla="val 1176"/>
            </a:avLst>
          </a:prstGeom>
          <a:solidFill>
            <a:srgbClr val="0B2E33"/>
          </a:solidFill>
          <a:ln/>
        </p:spPr>
      </p:sp>
      <p:sp>
        <p:nvSpPr>
          <p:cNvPr id="9" name="Text 7"/>
          <p:cNvSpPr/>
          <p:nvPr/>
        </p:nvSpPr>
        <p:spPr>
          <a:xfrm>
            <a:off x="6537960" y="1691640"/>
            <a:ext cx="4937760" cy="4389120"/>
          </a:xfrm>
          <a:prstGeom prst="rect">
            <a:avLst/>
          </a:prstGeom>
          <a:noFill/>
          <a:ln/>
        </p:spPr>
        <p:txBody>
          <a:bodyPr wrap="square" rtlCol="0" anchor="t"/>
          <a:lstStyle/>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전문가용: 'PDP가 device posture 기준 미달로 접근을 deny 처리했습니다'</a:t>
            </a:r>
            <a:endParaRPr lang="en-US" sz="1250" dirty="0"/>
          </a:p>
          <a:p>
            <a:pPr indent="0" marL="0">
              <a:lnSpc>
                <a:spcPct val="115000"/>
              </a:lnSpc>
              <a:buNone/>
            </a:pPr>
            <a:r>
              <a:rPr lang="en-US" sz="1250" dirty="0">
                <a:solidFill>
                  <a:srgbClr val="A7F3D0"/>
                </a:solidFill>
                <a:latin typeface="Consolas" pitchFamily="34" charset="0"/>
                <a:ea typeface="Consolas" pitchFamily="34" charset="-122"/>
                <a:cs typeface="Consolas" pitchFamily="34" charset="-120"/>
              </a:rPr>
              <a:t>고객용: '해당 직원의 노트북이 회사 보안 기준(백신 등)을 충족하지 못해 접속이 자동으로 차단되었습니다'</a:t>
            </a:r>
            <a:endParaRPr lang="en-US" sz="12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설명자료의 구조 - 결론, 근거, 권고</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25-55분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고객 설명자료를 '결론(무슨 일이 있었나) → 근거(데이터·로그) → 권고(무엇을 해야 하나)' 3단 구조로 작성하는 템플릿을 제시한다.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근거(로그 데이터)를 결론보다 먼저 나열하면 바쁜 고객 담당자는 끝까지 읽을까요?</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시각 자료 활용</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55-85분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표·간단한 그래프·다이어그램을 활용해 텍스트보다 빠르게 상황을 이해시키는 방법을 다룬다(5일차 망 구성도, 품질 리포트 경험과 연결).</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'접근 거부가 지난주보다 3배 늘었습니다'를 텍스트로만 쓰는 것과 간단한 막대그래프로 보여주는 것, 어느 쪽이 더 빠르게 전달될까요?</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설명자료 작성 실습 준비</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85-110분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강의1에서 다룬 정책 로그 데이터를 바탕으로 비전문가용 설명자료를 작성하는 과제를 안내하고 예시 초안을 함께 검토한다.</a:t>
            </a:r>
            <a:endParaRPr lang="en-US" sz="15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강의2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실습 안내</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110-120분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정책 로그를 분석해 비전문가용 고객 설명자료를 작성하는 실습을 안내한다.</a:t>
            </a:r>
            <a:endParaRPr lang="en-US" sz="15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고객 설명자료 작성</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정책 로그 샘플을 분석해 비전문가(고객 경영진)가 이해할 수 있는 설명자료를 작성한다.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제공된 정책 로그 샘플(30~50줄, allow/deny 혼재)을 검토해 패턴을 찾는다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가장 중요한 이슈 1~2가지를 선정한다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결론-근거-권고 3단 구조로 설명자료 초안을 작성한다(전문용어 최소화)</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간단한 표 또는 막대그래프로 핵심 수치를 시각화한다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network_zt/day07_customer_report.md로 저장한다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조원과 서로의 설명자료를 교환해 상호 검토한다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network_zt/day07_customer_report.md</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전문용어를 비전문가도 이해할 수 있게 풀어썼는가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결론-근거-권고 구조를 따르는가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핵심 이슈가 데이터에 근거해 명확히 제시되었는가</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028090">
              <a:alpha val="45000"/>
            </a:srgbClr>
          </a:solidFill>
          <a:ln/>
        </p:spPr>
      </p:sp>
      <p:sp>
        <p:nvSpPr>
          <p:cNvPr id="3" name="Text 1"/>
          <p:cNvSpPr/>
          <p:nvPr/>
        </p:nvSpPr>
        <p:spPr>
          <a:xfrm>
            <a:off x="731520" y="822960"/>
            <a:ext cx="5486400" cy="914400"/>
          </a:xfrm>
          <a:prstGeom prst="rect">
            <a:avLst/>
          </a:prstGeom>
          <a:noFill/>
          <a:ln/>
        </p:spPr>
        <p:txBody>
          <a:bodyPr wrap="square" rtlCol="0" anchor="ctr"/>
          <a:lstStyle/>
          <a:p>
            <a:pPr indent="0" marL="0">
              <a:buNone/>
            </a:pPr>
            <a:r>
              <a:rPr lang="en-US" sz="2600" b="1" spc="200" kern="0" dirty="0">
                <a:solidFill>
                  <a:srgbClr val="02C39A"/>
                </a:solidFill>
                <a:latin typeface="Malgun Gothic" pitchFamily="34" charset="0"/>
                <a:ea typeface="Malgun Gothic" pitchFamily="34" charset="-122"/>
                <a:cs typeface="Malgun Gothic" pitchFamily="34" charset="-120"/>
              </a:rPr>
              <a:t>DAY 8</a:t>
            </a:r>
            <a:endParaRPr lang="en-US" sz="2600" dirty="0"/>
          </a:p>
        </p:txBody>
      </p:sp>
      <p:sp>
        <p:nvSpPr>
          <p:cNvPr id="4" name="Text 2"/>
          <p:cNvSpPr/>
          <p:nvPr/>
        </p:nvSpPr>
        <p:spPr>
          <a:xfrm>
            <a:off x="731520" y="1463040"/>
            <a:ext cx="10789920" cy="1463040"/>
          </a:xfrm>
          <a:prstGeom prst="rect">
            <a:avLst/>
          </a:prstGeom>
          <a:noFill/>
          <a:ln/>
        </p:spPr>
        <p:txBody>
          <a:bodyPr wrap="square"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장애·위협·접근통제 이슈 도식화 &amp; 종합 발표</a:t>
            </a:r>
            <a:endParaRPr lang="en-US" sz="3000" dirty="0"/>
          </a:p>
        </p:txBody>
      </p:sp>
      <p:sp>
        <p:nvSpPr>
          <p:cNvPr id="5" name="Text 3"/>
          <p:cNvSpPr/>
          <p:nvPr/>
        </p:nvSpPr>
        <p:spPr>
          <a:xfrm>
            <a:off x="731520" y="3017520"/>
            <a:ext cx="67665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장애·위협·접근통제 이슈를 유형별로 분류하고 도식화할 수 있다</a:t>
            </a:r>
            <a:endParaRPr lang="en-US" sz="1500" dirty="0"/>
          </a:p>
          <a:p>
            <a:pPr marL="342900" indent="-342900">
              <a:spcAft>
                <a:spcPts val="1000"/>
              </a:spcAft>
              <a:buSzPct val="100000"/>
              <a:buChar char="✦"/>
            </a:pPr>
            <a:r>
              <a:rPr lang="en-US" sz="1500" dirty="0">
                <a:solidFill>
                  <a:srgbClr val="E8FBF7"/>
                </a:solidFill>
                <a:latin typeface="Malgun Gothic" pitchFamily="34" charset="0"/>
                <a:ea typeface="Malgun Gothic" pitchFamily="34" charset="-122"/>
                <a:cs typeface="Malgun Gothic" pitchFamily="34" charset="-120"/>
              </a:rPr>
              <a:t>10일간 학습 내용을 종합해 팀 시나리오로 발표할 수 있다</a:t>
            </a:r>
            <a:endParaRPr lang="en-US" sz="1500" dirty="0"/>
          </a:p>
        </p:txBody>
      </p:sp>
      <p:sp>
        <p:nvSpPr>
          <p:cNvPr id="6" name="Shape 4"/>
          <p:cNvSpPr/>
          <p:nvPr/>
        </p:nvSpPr>
        <p:spPr>
          <a:xfrm>
            <a:off x="8138160" y="3017520"/>
            <a:ext cx="3566160" cy="1371600"/>
          </a:xfrm>
          <a:prstGeom prst="roundRect">
            <a:avLst>
              <a:gd name="adj" fmla="val 5333"/>
            </a:avLst>
          </a:prstGeom>
          <a:solidFill>
            <a:srgbClr val="023436"/>
          </a:solidFill>
          <a:ln/>
        </p:spPr>
      </p:sp>
      <p:sp>
        <p:nvSpPr>
          <p:cNvPr id="7" name="Text 5"/>
          <p:cNvSpPr/>
          <p:nvPr/>
        </p:nvSpPr>
        <p:spPr>
          <a:xfrm>
            <a:off x="8321040" y="3154680"/>
            <a:ext cx="3291840" cy="114300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캡스톤 빌딩블록</a:t>
            </a:r>
            <a:endParaRPr lang="en-US" sz="1200" dirty="0"/>
          </a:p>
          <a:p>
            <a:pPr indent="0" marL="0">
              <a:buNone/>
            </a:pPr>
            <a:r>
              <a:rPr lang="en-US" sz="1300" dirty="0">
                <a:solidFill>
                  <a:srgbClr val="FFFFFF"/>
                </a:solidFill>
                <a:latin typeface="Malgun Gothic" pitchFamily="34" charset="0"/>
                <a:ea typeface="Malgun Gothic" pitchFamily="34" charset="-122"/>
                <a:cs typeface="Malgun Gothic" pitchFamily="34" charset="-120"/>
              </a:rPr>
              <a:t>ZT 보안 자세 점검·스코어링 로직 (캡스톤 착수 자료)</a:t>
            </a:r>
            <a:endParaRPr lang="en-US" sz="1200" dirty="0"/>
          </a:p>
        </p:txBody>
      </p:sp>
      <p:sp>
        <p:nvSpPr>
          <p:cNvPr id="8" name="Shape 6"/>
          <p:cNvSpPr/>
          <p:nvPr/>
        </p:nvSpPr>
        <p:spPr>
          <a:xfrm>
            <a:off x="8138160" y="4572000"/>
            <a:ext cx="3566160" cy="1005840"/>
          </a:xfrm>
          <a:prstGeom prst="roundRect">
            <a:avLst>
              <a:gd name="adj" fmla="val 7273"/>
            </a:avLst>
          </a:prstGeom>
          <a:solidFill>
            <a:srgbClr val="023436"/>
          </a:solidFill>
          <a:ln/>
        </p:spPr>
      </p:sp>
      <p:sp>
        <p:nvSpPr>
          <p:cNvPr id="9" name="Text 7"/>
          <p:cNvSpPr/>
          <p:nvPr/>
        </p:nvSpPr>
        <p:spPr>
          <a:xfrm>
            <a:off x="8321040" y="4709160"/>
            <a:ext cx="3291840" cy="777240"/>
          </a:xfrm>
          <a:prstGeom prst="rect">
            <a:avLst/>
          </a:prstGeom>
          <a:noFill/>
          <a:ln/>
        </p:spPr>
        <p:txBody>
          <a:bodyPr wrap="square" rtlCol="0" anchor="t"/>
          <a:lstStyle/>
          <a:p>
            <a:pPr indent="0" marL="0">
              <a:buNone/>
            </a:pPr>
            <a:r>
              <a:rPr lang="en-US" sz="1200" b="1" dirty="0">
                <a:solidFill>
                  <a:srgbClr val="02C39A"/>
                </a:solidFill>
                <a:latin typeface="Malgun Gothic" pitchFamily="34" charset="0"/>
                <a:ea typeface="Malgun Gothic" pitchFamily="34" charset="-122"/>
                <a:cs typeface="Malgun Gothic" pitchFamily="34" charset="-120"/>
              </a:rPr>
              <a:t>레포 경로</a:t>
            </a:r>
            <a:endParaRPr lang="en-US" sz="1200" dirty="0"/>
          </a:p>
          <a:p>
            <a:pPr indent="0" marL="0">
              <a:buNone/>
            </a:pPr>
            <a:r>
              <a:rPr lang="en-US" sz="1100" dirty="0">
                <a:solidFill>
                  <a:srgbClr val="FFFFFF"/>
                </a:solidFill>
                <a:latin typeface="Malgun Gothic" pitchFamily="34" charset="0"/>
                <a:ea typeface="Malgun Gothic" pitchFamily="34" charset="-122"/>
                <a:cs typeface="Malgun Gothic" pitchFamily="34" charset="-120"/>
              </a:rPr>
              <a:t>network_zt/ (전체)</a:t>
            </a:r>
            <a:endParaRPr lang="en-US" sz="1200" dirty="0"/>
          </a:p>
        </p:txBody>
      </p:sp>
      <p:sp>
        <p:nvSpPr>
          <p:cNvPr id="10" name="Shape 8"/>
          <p:cNvSpPr/>
          <p:nvPr/>
        </p:nvSpPr>
        <p:spPr>
          <a:xfrm>
            <a:off x="731520" y="5760720"/>
            <a:ext cx="1554480" cy="685800"/>
          </a:xfrm>
          <a:prstGeom prst="roundRect">
            <a:avLst>
              <a:gd name="adj" fmla="val 8000"/>
            </a:avLst>
          </a:prstGeom>
          <a:solidFill>
            <a:srgbClr val="00A896">
              <a:alpha val="80000"/>
            </a:srgbClr>
          </a:solidFill>
          <a:ln/>
        </p:spPr>
      </p:sp>
      <p:sp>
        <p:nvSpPr>
          <p:cNvPr id="11" name="Text 9"/>
          <p:cNvSpPr/>
          <p:nvPr/>
        </p:nvSpPr>
        <p:spPr>
          <a:xfrm>
            <a:off x="73152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강의</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
        <p:nvSpPr>
          <p:cNvPr id="12" name="Shape 10"/>
          <p:cNvSpPr/>
          <p:nvPr/>
        </p:nvSpPr>
        <p:spPr>
          <a:xfrm>
            <a:off x="2423160" y="5760720"/>
            <a:ext cx="1554480" cy="685800"/>
          </a:xfrm>
          <a:prstGeom prst="roundRect">
            <a:avLst>
              <a:gd name="adj" fmla="val 8000"/>
            </a:avLst>
          </a:prstGeom>
          <a:solidFill>
            <a:srgbClr val="00A896">
              <a:alpha val="80000"/>
            </a:srgbClr>
          </a:solidFill>
          <a:ln/>
        </p:spPr>
      </p:sp>
      <p:sp>
        <p:nvSpPr>
          <p:cNvPr id="13" name="Text 11"/>
          <p:cNvSpPr/>
          <p:nvPr/>
        </p:nvSpPr>
        <p:spPr>
          <a:xfrm>
            <a:off x="2423160" y="5760720"/>
            <a:ext cx="1554480" cy="685800"/>
          </a:xfrm>
          <a:prstGeom prst="rect">
            <a:avLst/>
          </a:prstGeom>
          <a:noFill/>
          <a:ln/>
        </p:spPr>
        <p:txBody>
          <a:bodyPr wrap="square" lIns="0" tIns="0" rIns="0" bIns="0" rtlCol="0" anchor="ctr"/>
          <a:lstStyle/>
          <a:p>
            <a:pPr algn="ctr" indent="0" marL="0">
              <a:buNone/>
            </a:pPr>
            <a:r>
              <a:rPr lang="en-US" sz="1200" dirty="0">
                <a:solidFill>
                  <a:srgbClr val="063B3E"/>
                </a:solidFill>
                <a:latin typeface="Malgun Gothic" pitchFamily="34" charset="0"/>
                <a:ea typeface="Malgun Gothic" pitchFamily="34" charset="-122"/>
                <a:cs typeface="Malgun Gothic" pitchFamily="34" charset="-120"/>
              </a:rPr>
              <a:t>실습</a:t>
            </a:r>
            <a:endParaRPr lang="en-US" sz="1200" dirty="0"/>
          </a:p>
          <a:p>
            <a:pPr algn="ctr" indent="0" marL="0">
              <a:buNone/>
            </a:pPr>
            <a:r>
              <a:rPr lang="en-US" sz="1200" dirty="0">
                <a:solidFill>
                  <a:srgbClr val="063B3E"/>
                </a:solidFill>
                <a:latin typeface="Malgun Gothic" pitchFamily="34" charset="0"/>
                <a:ea typeface="Malgun Gothic" pitchFamily="34" charset="-122"/>
                <a:cs typeface="Malgun Gothic" pitchFamily="34" charset="-120"/>
              </a:rPr>
              <a:t>120분</a:t>
            </a:r>
            <a:endParaRPr lang="en-US"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1~7일차 종합 지도</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00-20분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OSI/TCP·IP → 서브네팅/라우팅 → DNS → VPN/방화벽 → 클라우드/품질지표 → ZT원칙/PDP·PEP → 정책로그/문서화까지의 흐름을 한 장으로 정리하며 오늘이 통합의 날임을 강조한다.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7일 중 가장 어렵게 느껴졌던 개념은 무엇이었나요?</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장애·위협·접근통제 이슈 유형 분류</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20-45분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연결 장애·성능 저하·서비스 장애로 나뉘는 장애 유형, DNS 스푸핑·무차별 대입·SYN Flood 같은 위협 유형, 과다권한·최소권한 위반 같은 접근통제 이슈를 정책 로그 필드와 연결지어 정리한다.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'특정 사이트만 안 열린다'는 증상은 어떤 장애 유형에 가까울까요?</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플로우차트·타임라인으로 이슈 도식화</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45-70분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'증상 발생 → 진단 단계 → 원인 확정 → 조치'로 이어지는 흐름을 표준 플로우차트 기호로 표현하는 법, 사고 경위를 타임라인 형태로 표현하는 법(5과목 SOAR 초동대응 리포트와 연결)을 실습한다.</a:t>
            </a:r>
            <a:endParaRPr lang="en-US" sz="1500" dirty="0"/>
          </a:p>
        </p:txBody>
      </p:sp>
      <p:sp>
        <p:nvSpPr>
          <p:cNvPr id="7" name="Text 5"/>
          <p:cNvSpPr/>
          <p:nvPr/>
        </p:nvSpPr>
        <p:spPr>
          <a:xfrm>
            <a:off x="822960" y="5029200"/>
            <a:ext cx="10607040" cy="68580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Q  </a:t>
            </a:r>
            <a:pPr indent="0" marL="0">
              <a:buNone/>
            </a:pPr>
            <a:r>
              <a:rPr lang="en-US" sz="1300" i="1" dirty="0">
                <a:solidFill>
                  <a:srgbClr val="2E5C5F"/>
                </a:solidFill>
                <a:latin typeface="Malgun Gothic" pitchFamily="34" charset="0"/>
                <a:ea typeface="Malgun Gothic" pitchFamily="34" charset="-122"/>
                <a:cs typeface="Malgun Gothic" pitchFamily="34" charset="-120"/>
              </a:rPr>
              <a:t>타임라인 형태로 사고를 정리하면, 표로 나열하는 것보다 어떤 점이 더 잘 보일까요?</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팀별 시나리오 도식화 작업</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70-95분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팀(조)별로 장애/위협/접근통제 이슈 중 하나를 선택해, 배운 도식화 기법으로 대응 흐름을 표현하는 작업을 진행한다.</a:t>
            </a:r>
            <a:endParaRPr lang="en-US" sz="15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4FBFA"/>
        </a:solidFill>
      </p:bgPr>
    </p:bg>
    <p:spTree>
      <p:nvGrpSpPr>
        <p:cNvPr id="1" name=""/>
        <p:cNvGrpSpPr/>
        <p:nvPr/>
      </p:nvGrpSpPr>
      <p:grpSpPr>
        <a:xfrm>
          <a:off x="0" y="0"/>
          <a:ext cx="0" cy="0"/>
          <a:chOff x="0" y="0"/>
          <a:chExt cx="0" cy="0"/>
        </a:xfrm>
      </p:grpSpPr>
      <p:sp>
        <p:nvSpPr>
          <p:cNvPr id="2" name="Text 0"/>
          <p:cNvSpPr/>
          <p:nvPr/>
        </p:nvSpPr>
        <p:spPr>
          <a:xfrm>
            <a:off x="548640" y="320040"/>
            <a:ext cx="5486400" cy="365760"/>
          </a:xfrm>
          <a:prstGeom prst="rect">
            <a:avLst/>
          </a:prstGeom>
          <a:noFill/>
          <a:ln/>
        </p:spPr>
        <p:txBody>
          <a:bodyPr wrap="square" rtlCol="0" anchor="ctr"/>
          <a:lstStyle/>
          <a:p>
            <a:pPr indent="0" marL="0">
              <a:buNone/>
            </a:pPr>
            <a:r>
              <a:rPr lang="en-US" sz="1200" b="1" spc="100" kern="0" dirty="0">
                <a:solidFill>
                  <a:srgbClr val="028090"/>
                </a:solidFill>
                <a:latin typeface="Malgun Gothic" pitchFamily="34" charset="0"/>
                <a:ea typeface="Malgun Gothic" pitchFamily="34" charset="-122"/>
                <a:cs typeface="Malgun Gothic" pitchFamily="34" charset="-120"/>
              </a:rPr>
              <a:t>강의 · 120분</a:t>
            </a:r>
            <a:endParaRPr lang="en-US" sz="1200" dirty="0"/>
          </a:p>
        </p:txBody>
      </p:sp>
      <p:sp>
        <p:nvSpPr>
          <p:cNvPr id="3" name="Text 1"/>
          <p:cNvSpPr/>
          <p:nvPr/>
        </p:nvSpPr>
        <p:spPr>
          <a:xfrm>
            <a:off x="548640" y="640080"/>
            <a:ext cx="11155680" cy="731520"/>
          </a:xfrm>
          <a:prstGeom prst="rect">
            <a:avLst/>
          </a:prstGeom>
          <a:noFill/>
          <a:ln/>
        </p:spPr>
        <p:txBody>
          <a:bodyPr wrap="square" rtlCol="0" anchor="ctr"/>
          <a:lstStyle/>
          <a:p>
            <a:pPr indent="0" marL="0">
              <a:buNone/>
            </a:pPr>
            <a:r>
              <a:rPr lang="en-US" sz="2600" b="1" dirty="0">
                <a:solidFill>
                  <a:srgbClr val="0B2E33"/>
                </a:solidFill>
                <a:latin typeface="Malgun Gothic" pitchFamily="34" charset="0"/>
                <a:ea typeface="Malgun Gothic" pitchFamily="34" charset="-122"/>
                <a:cs typeface="Malgun Gothic" pitchFamily="34" charset="-120"/>
              </a:rPr>
              <a:t>캡스톤 연계 안내 및 발표 준비</a:t>
            </a:r>
            <a:endParaRPr lang="en-US" sz="2600" dirty="0"/>
          </a:p>
        </p:txBody>
      </p:sp>
      <p:sp>
        <p:nvSpPr>
          <p:cNvPr id="4" name="Text 2"/>
          <p:cNvSpPr/>
          <p:nvPr/>
        </p:nvSpPr>
        <p:spPr>
          <a:xfrm>
            <a:off x="10332720" y="365760"/>
            <a:ext cx="1463040" cy="365760"/>
          </a:xfrm>
          <a:prstGeom prst="rect">
            <a:avLst/>
          </a:prstGeom>
          <a:noFill/>
          <a:ln/>
        </p:spPr>
        <p:txBody>
          <a:bodyPr wrap="square" rtlCol="0" anchor="ctr"/>
          <a:lstStyle/>
          <a:p>
            <a:pPr algn="r" indent="0" marL="0">
              <a:buNone/>
            </a:pPr>
            <a:r>
              <a:rPr lang="en-US" sz="1200" dirty="0">
                <a:solidFill>
                  <a:srgbClr val="5B7A7D"/>
                </a:solidFill>
                <a:latin typeface="Malgun Gothic" pitchFamily="34" charset="0"/>
                <a:ea typeface="Malgun Gothic" pitchFamily="34" charset="-122"/>
                <a:cs typeface="Malgun Gothic" pitchFamily="34" charset="-120"/>
              </a:rPr>
              <a:t>95-120분</a:t>
            </a:r>
            <a:endParaRPr lang="en-US" sz="1200" dirty="0"/>
          </a:p>
        </p:txBody>
      </p:sp>
      <p:sp>
        <p:nvSpPr>
          <p:cNvPr id="5" name="Shape 3"/>
          <p:cNvSpPr/>
          <p:nvPr/>
        </p:nvSpPr>
        <p:spPr>
          <a:xfrm>
            <a:off x="548640" y="1554480"/>
            <a:ext cx="11155680" cy="4663440"/>
          </a:xfrm>
          <a:prstGeom prst="roundRect">
            <a:avLst>
              <a:gd name="adj" fmla="val 1176"/>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822960" y="1783080"/>
            <a:ext cx="10607040" cy="3291840"/>
          </a:xfrm>
          <a:prstGeom prst="rect">
            <a:avLst/>
          </a:prstGeom>
          <a:noFill/>
          <a:ln/>
        </p:spPr>
        <p:txBody>
          <a:bodyPr wrap="square" rtlCol="0" anchor="t"/>
          <a:lstStyle/>
          <a:p>
            <a:pPr indent="0" marL="0">
              <a:lnSpc>
                <a:spcPct val="125000"/>
              </a:lnSpc>
              <a:buNone/>
            </a:pPr>
            <a:r>
              <a:rPr lang="en-US" sz="1500" dirty="0">
                <a:solidFill>
                  <a:srgbClr val="0B2E33"/>
                </a:solidFill>
                <a:latin typeface="Malgun Gothic" pitchFamily="34" charset="0"/>
                <a:ea typeface="Malgun Gothic" pitchFamily="34" charset="-122"/>
                <a:cs typeface="Malgun Gothic" pitchFamily="34" charset="-120"/>
              </a:rPr>
              <a:t>network_zt/ 산출물(서브넷 설계, 방화벽 룰셋, 망 구성도, ZT 시나리오, PDP/PEP 흐름도, 정책 로그 분석)이 캡스톤의 'ZT 보안 자세 점검·스코어링' 기능에 재사용되는 전체 그림을 다시 확인시키고 발표를 준비시킨다.</a:t>
            </a:r>
            <a:endParaRPr lang="en-US" sz="15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4FBFA"/>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23436"/>
          </a:solidFill>
          <a:ln/>
        </p:spPr>
      </p:sp>
      <p:sp>
        <p:nvSpPr>
          <p:cNvPr id="3" name="Text 1"/>
          <p:cNvSpPr/>
          <p:nvPr/>
        </p:nvSpPr>
        <p:spPr>
          <a:xfrm>
            <a:off x="548640" y="256032"/>
            <a:ext cx="9144000" cy="731520"/>
          </a:xfrm>
          <a:prstGeom prst="rect">
            <a:avLst/>
          </a:prstGeom>
          <a:noFill/>
          <a:ln/>
        </p:spPr>
        <p:txBody>
          <a:bodyPr wrap="square"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실습 - 팀별 이슈 도식화 및 발표</a:t>
            </a:r>
            <a:endParaRPr lang="en-US" sz="2400" dirty="0"/>
          </a:p>
        </p:txBody>
      </p:sp>
      <p:sp>
        <p:nvSpPr>
          <p:cNvPr id="4" name="Text 2"/>
          <p:cNvSpPr/>
          <p:nvPr/>
        </p:nvSpPr>
        <p:spPr>
          <a:xfrm>
            <a:off x="10332720" y="365760"/>
            <a:ext cx="1463040" cy="457200"/>
          </a:xfrm>
          <a:prstGeom prst="rect">
            <a:avLst/>
          </a:prstGeom>
          <a:noFill/>
          <a:ln/>
        </p:spPr>
        <p:txBody>
          <a:bodyPr wrap="square" rtlCol="0" anchor="ctr"/>
          <a:lstStyle/>
          <a:p>
            <a:pPr algn="r" indent="0" marL="0">
              <a:buNone/>
            </a:pPr>
            <a:r>
              <a:rPr lang="en-US" sz="1300" dirty="0">
                <a:solidFill>
                  <a:srgbClr val="02C39A"/>
                </a:solidFill>
                <a:latin typeface="Malgun Gothic" pitchFamily="34" charset="0"/>
                <a:ea typeface="Malgun Gothic" pitchFamily="34" charset="-122"/>
                <a:cs typeface="Malgun Gothic" pitchFamily="34" charset="-120"/>
              </a:rPr>
              <a:t>120분</a:t>
            </a:r>
            <a:endParaRPr lang="en-US" sz="1300" dirty="0"/>
          </a:p>
        </p:txBody>
      </p:sp>
      <p:sp>
        <p:nvSpPr>
          <p:cNvPr id="5" name="Text 3"/>
          <p:cNvSpPr/>
          <p:nvPr/>
        </p:nvSpPr>
        <p:spPr>
          <a:xfrm>
            <a:off x="548640" y="1417320"/>
            <a:ext cx="11064240" cy="548640"/>
          </a:xfrm>
          <a:prstGeom prst="rect">
            <a:avLst/>
          </a:prstGeom>
          <a:noFill/>
          <a:ln/>
        </p:spPr>
        <p:txBody>
          <a:bodyPr wrap="square" rtlCol="0" anchor="t"/>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실습 목표  </a:t>
            </a:r>
            <a:pPr indent="0" marL="0">
              <a:buNone/>
            </a:pPr>
            <a:r>
              <a:rPr lang="en-US" sz="1400" dirty="0">
                <a:solidFill>
                  <a:srgbClr val="0B2E33"/>
                </a:solidFill>
                <a:latin typeface="Malgun Gothic" pitchFamily="34" charset="0"/>
                <a:ea typeface="Malgun Gothic" pitchFamily="34" charset="-122"/>
                <a:cs typeface="Malgun Gothic" pitchFamily="34" charset="-120"/>
              </a:rPr>
              <a:t>장애·위협·접근통제 이슈 중 하나를 선택해 도식화하고, 학습을 종합해 팀별로 발표한다.</a:t>
            </a:r>
            <a:endParaRPr lang="en-US" sz="1400" dirty="0"/>
          </a:p>
        </p:txBody>
      </p:sp>
      <p:sp>
        <p:nvSpPr>
          <p:cNvPr id="6" name="Shape 4"/>
          <p:cNvSpPr/>
          <p:nvPr/>
        </p:nvSpPr>
        <p:spPr>
          <a:xfrm>
            <a:off x="548640" y="2057400"/>
            <a:ext cx="6949440" cy="4206240"/>
          </a:xfrm>
          <a:prstGeom prst="roundRect">
            <a:avLst>
              <a:gd name="adj" fmla="val 1304"/>
            </a:avLst>
          </a:prstGeom>
          <a:solidFill>
            <a:srgbClr val="FFFFFF"/>
          </a:solidFill>
          <a:ln/>
          <a:effectLst>
            <a:outerShdw sx="100000" sy="100000" kx="0" ky="0" algn="bl" rotWithShape="0" blurRad="101600" dist="25400" dir="5400000">
              <a:srgbClr val="000000">
                <a:alpha val="8000"/>
              </a:srgbClr>
            </a:outerShdw>
          </a:effectLst>
        </p:spPr>
      </p:sp>
      <p:sp>
        <p:nvSpPr>
          <p:cNvPr id="7" name="Text 5"/>
          <p:cNvSpPr/>
          <p:nvPr/>
        </p:nvSpPr>
        <p:spPr>
          <a:xfrm>
            <a:off x="777240" y="2240280"/>
            <a:ext cx="6492240" cy="3840480"/>
          </a:xfrm>
          <a:prstGeom prst="rect">
            <a:avLst/>
          </a:prstGeom>
          <a:noFill/>
          <a:ln/>
        </p:spPr>
        <p:txBody>
          <a:bodyPr wrap="square" rtlCol="0" anchor="t"/>
          <a:lstStyle/>
          <a:p>
            <a:pPr indent="0" marL="0">
              <a:spcAft>
                <a:spcPts val="600"/>
              </a:spcAft>
              <a:buNone/>
            </a:pPr>
            <a:r>
              <a:rPr lang="en-US" sz="1300" b="1" dirty="0">
                <a:solidFill>
                  <a:srgbClr val="028090"/>
                </a:solidFill>
                <a:latin typeface="Malgun Gothic" pitchFamily="34" charset="0"/>
                <a:ea typeface="Malgun Gothic" pitchFamily="34" charset="-122"/>
                <a:cs typeface="Malgun Gothic" pitchFamily="34" charset="-120"/>
              </a:rPr>
              <a:t>진행 단계</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팀(조)별로 장애/위협/접근통제 이슈 시나리오 하나를 선택한다(예: DNS 스푸핑 의심 사고)</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이슈 발생부터 대응까지의 흐름을 플로우차트 또는 타임라인으로 도식화한다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도식화 자료에 1~7일차에서 배운 개념이 어떻게 적용되는지 표시한다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network_zt/day08_issue_diagram.png로 저장한다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5분 내외 발표 자료를 준비해 팀별로 발표한다</a:t>
            </a:r>
            <a:endParaRPr lang="en-US" sz="1250" dirty="0"/>
          </a:p>
          <a:p>
            <a:pPr marL="342900" indent="-342900">
              <a:spcAft>
                <a:spcPts val="600"/>
              </a:spcAft>
              <a:buSzPct val="100000"/>
              <a:buChar char="✦"/>
            </a:pPr>
            <a:r>
              <a:rPr lang="en-US" sz="1250" dirty="0">
                <a:solidFill>
                  <a:srgbClr val="0B2E33"/>
                </a:solidFill>
                <a:latin typeface="Malgun Gothic" pitchFamily="34" charset="0"/>
                <a:ea typeface="Malgun Gothic" pitchFamily="34" charset="-122"/>
                <a:cs typeface="Malgun Gothic" pitchFamily="34" charset="-120"/>
              </a:rPr>
              <a:t>받은 피드백과 개선점을 network_zt/day08_retrospective.md에 정리해 캡스톤 착수 시 참고 자료로 남긴다</a:t>
            </a:r>
            <a:endParaRPr lang="en-US" sz="1250" dirty="0"/>
          </a:p>
        </p:txBody>
      </p:sp>
      <p:sp>
        <p:nvSpPr>
          <p:cNvPr id="8" name="Shape 6"/>
          <p:cNvSpPr/>
          <p:nvPr/>
        </p:nvSpPr>
        <p:spPr>
          <a:xfrm>
            <a:off x="7680960" y="2057400"/>
            <a:ext cx="3977640" cy="1965960"/>
          </a:xfrm>
          <a:prstGeom prst="roundRect">
            <a:avLst>
              <a:gd name="adj" fmla="val 2791"/>
            </a:avLst>
          </a:prstGeom>
          <a:solidFill>
            <a:srgbClr val="00A896">
              <a:alpha val="18000"/>
            </a:srgbClr>
          </a:solidFill>
          <a:ln/>
        </p:spPr>
      </p:sp>
      <p:sp>
        <p:nvSpPr>
          <p:cNvPr id="9" name="Text 7"/>
          <p:cNvSpPr/>
          <p:nvPr/>
        </p:nvSpPr>
        <p:spPr>
          <a:xfrm>
            <a:off x="7909560" y="2240280"/>
            <a:ext cx="3566160" cy="1645920"/>
          </a:xfrm>
          <a:prstGeom prst="rect">
            <a:avLst/>
          </a:prstGeom>
          <a:noFill/>
          <a:ln/>
        </p:spPr>
        <p:txBody>
          <a:bodyPr wrap="square" rtlCol="0" anchor="t"/>
          <a:lstStyle/>
          <a:p>
            <a:pPr indent="0" marL="0">
              <a:buNone/>
            </a:pPr>
            <a:r>
              <a:rPr lang="en-US" sz="1300" b="1" dirty="0">
                <a:solidFill>
                  <a:srgbClr val="028090"/>
                </a:solidFill>
                <a:latin typeface="Malgun Gothic" pitchFamily="34" charset="0"/>
                <a:ea typeface="Malgun Gothic" pitchFamily="34" charset="-122"/>
                <a:cs typeface="Malgun Gothic" pitchFamily="34" charset="-120"/>
              </a:rPr>
              <a:t>산출물</a:t>
            </a:r>
            <a:endParaRPr lang="en-US" sz="1300" dirty="0"/>
          </a:p>
          <a:p>
            <a:pPr indent="0" marL="0">
              <a:buNone/>
            </a:pPr>
            <a:r>
              <a:rPr lang="en-US" sz="1250" dirty="0">
                <a:solidFill>
                  <a:srgbClr val="0B2E33"/>
                </a:solidFill>
                <a:latin typeface="Malgun Gothic" pitchFamily="34" charset="0"/>
                <a:ea typeface="Malgun Gothic" pitchFamily="34" charset="-122"/>
                <a:cs typeface="Malgun Gothic" pitchFamily="34" charset="-120"/>
              </a:rPr>
              <a:t>network_zt/day08_issue_diagram.png, network_zt/day08_retrospective.md</a:t>
            </a:r>
            <a:endParaRPr lang="en-US" sz="1300" dirty="0"/>
          </a:p>
        </p:txBody>
      </p:sp>
      <p:sp>
        <p:nvSpPr>
          <p:cNvPr id="10" name="Shape 8"/>
          <p:cNvSpPr/>
          <p:nvPr/>
        </p:nvSpPr>
        <p:spPr>
          <a:xfrm>
            <a:off x="7680960" y="4160520"/>
            <a:ext cx="3977640" cy="2103120"/>
          </a:xfrm>
          <a:prstGeom prst="roundRect">
            <a:avLst>
              <a:gd name="adj" fmla="val 2609"/>
            </a:avLst>
          </a:prstGeom>
          <a:solidFill>
            <a:srgbClr val="02C39A">
              <a:alpha val="15000"/>
            </a:srgbClr>
          </a:solidFill>
          <a:ln/>
        </p:spPr>
      </p:sp>
      <p:sp>
        <p:nvSpPr>
          <p:cNvPr id="11" name="Text 9"/>
          <p:cNvSpPr/>
          <p:nvPr/>
        </p:nvSpPr>
        <p:spPr>
          <a:xfrm>
            <a:off x="7909560" y="4343400"/>
            <a:ext cx="3566160" cy="1828800"/>
          </a:xfrm>
          <a:prstGeom prst="rect">
            <a:avLst/>
          </a:prstGeom>
          <a:noFill/>
          <a:ln/>
        </p:spPr>
        <p:txBody>
          <a:bodyPr wrap="square" rtlCol="0" anchor="t"/>
          <a:lstStyle/>
          <a:p>
            <a:pPr indent="0" marL="0">
              <a:spcAft>
                <a:spcPts val="400"/>
              </a:spcAft>
              <a:buNone/>
            </a:pPr>
            <a:r>
              <a:rPr lang="en-US" sz="1300" b="1" dirty="0">
                <a:solidFill>
                  <a:srgbClr val="028090"/>
                </a:solidFill>
                <a:latin typeface="Malgun Gothic" pitchFamily="34" charset="0"/>
                <a:ea typeface="Malgun Gothic" pitchFamily="34" charset="-122"/>
                <a:cs typeface="Malgun Gothic" pitchFamily="34" charset="-120"/>
              </a:rPr>
              <a:t>평가 기준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이슈 대응 흐름이 논리적으로 도식화되었는가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학습한 핵심 개념이 도식에 반영되었는가</a:t>
            </a:r>
            <a:endParaRPr lang="en-US" sz="1300" dirty="0"/>
          </a:p>
          <a:p>
            <a:pPr marL="342900" indent="-342900">
              <a:spcAft>
                <a:spcPts val="400"/>
              </a:spcAft>
              <a:buSzPct val="100000"/>
              <a:buChar char="✦"/>
            </a:pPr>
            <a:r>
              <a:rPr lang="en-US" sz="1200" dirty="0">
                <a:solidFill>
                  <a:srgbClr val="0B2E33"/>
                </a:solidFill>
                <a:latin typeface="Malgun Gothic" pitchFamily="34" charset="0"/>
                <a:ea typeface="Malgun Gothic" pitchFamily="34" charset="-122"/>
                <a:cs typeface="Malgun Gothic" pitchFamily="34" charset="-120"/>
              </a:rPr>
              <a:t>발표에서 캡스톤과의 연결점을 설명할 수 있는가</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네트워크·ZT(Zero Trust) 운영 기초</dc:title>
  <dc:subject>PptxGenJS Presentation</dc:subject>
  <dc:creator>코리아IT아카데미 전임강사</dc:creator>
  <cp:lastModifiedBy>코리아IT아카데미 전임강사</cp:lastModifiedBy>
  <cp:revision>1</cp:revision>
  <dcterms:created xsi:type="dcterms:W3CDTF">2026-07-08T09:45:48Z</dcterms:created>
  <dcterms:modified xsi:type="dcterms:W3CDTF">2026-07-08T09:45:48Z</dcterms:modified>
</cp:coreProperties>
</file>